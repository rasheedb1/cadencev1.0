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50">
                <a:solidFill>
                  <a:srgbClr val="0F1020"/>
                </a:solidFill>
                <a:latin typeface="Calibri"/>
              </a:rPr>
              <a:t>YUNO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200">
                <a:solidFill>
                  <a:srgbClr val="808395"/>
                </a:solidFill>
                <a:latin typeface="Consolas"/>
              </a:rPr>
              <a:t>LA OPORTUNIDAD · PERÚ</a:t>
            </a:r>
          </a:p>
        </p:txBody>
      </p:sp>
      <p:pic>
        <p:nvPicPr>
          <p:cNvPr id="5" name="Picture 4" descr="yape-logo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657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463040"/>
            <a:ext cx="9601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400" b="1" i="0">
                <a:solidFill>
                  <a:srgbClr val="0F1020"/>
                </a:solidFill>
                <a:latin typeface="Calibri"/>
              </a:rPr>
              <a:t>Yuno × Yape: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1726A6"/>
                </a:solidFill>
                <a:latin typeface="Calibri"/>
              </a:rPr>
              <a:t>somos el owner del ecosistema PSP en Perú.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55586E"/>
                </a:solidFill>
                <a:latin typeface="Calibri"/>
              </a:rPr>
              <a:t>Yape sólo puede integrar 3 PSPs por trimestre por limitantes técnicas internas. Con Yuno: 15.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3621024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E2D86"/>
                </a:solidFill>
                <a:latin typeface="Calibri"/>
              </a:rPr>
              <a:t>5x la capacidad de onboarding.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526280"/>
            <a:ext cx="3566160" cy="28000"/>
          </a:xfrm>
          <a:prstGeom prst="rect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4818888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0F1020"/>
                </a:solidFill>
                <a:latin typeface="Calibri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73328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808395"/>
                </a:solidFill>
                <a:latin typeface="Calibri"/>
              </a:rPr>
              <a:t>PSPs activos · Año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33672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33672" y="4526280"/>
            <a:ext cx="3566160" cy="28000"/>
          </a:xfrm>
          <a:prstGeom prst="rect">
            <a:avLst/>
          </a:prstGeom>
          <a:solidFill>
            <a:srgbClr val="3E4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818888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0F1020"/>
                </a:solidFill>
                <a:latin typeface="Calibri"/>
              </a:rPr>
              <a:t>$681k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573328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808395"/>
                </a:solidFill>
                <a:latin typeface="Calibri"/>
              </a:rPr>
              <a:t>Ingresos · Año 1 (USD)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64424" y="4526280"/>
            <a:ext cx="356616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64424" y="4526280"/>
            <a:ext cx="3566160" cy="28000"/>
          </a:xfrm>
          <a:prstGeom prst="rect">
            <a:avLst/>
          </a:prstGeom>
          <a:solidFill>
            <a:srgbClr val="7E2D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4818888"/>
            <a:ext cx="301752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0F1020"/>
                </a:solidFill>
                <a:latin typeface="Calibri"/>
              </a:rPr>
              <a:t>$3.2M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573328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20">
                <a:solidFill>
                  <a:srgbClr val="808395"/>
                </a:solidFill>
                <a:latin typeface="Calibri"/>
              </a:rPr>
              <a:t>Acumulado 3 años (USD)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80">
                <a:solidFill>
                  <a:srgbClr val="B4B6C2"/>
                </a:solidFill>
                <a:latin typeface="Calibri"/>
              </a:rPr>
              <a:t>Yuno × Yape · Internal Deal Brief · Confidencial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73952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50">
                <a:solidFill>
                  <a:srgbClr val="B4B6C2"/>
                </a:solidFill>
                <a:latin typeface="Consolas"/>
              </a:rPr>
              <a:t>1 /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355080"/>
            <a:ext cx="11185855" cy="6350"/>
          </a:xfrm>
          <a:prstGeom prst="rect">
            <a:avLst/>
          </a:prstGeom>
          <a:solidFill>
            <a:srgbClr val="E5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50">
                <a:solidFill>
                  <a:srgbClr val="0F1020"/>
                </a:solidFill>
                <a:latin typeface="Calibri"/>
              </a:rPr>
              <a:t>YUNO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200">
                <a:solidFill>
                  <a:srgbClr val="808395"/>
                </a:solidFill>
                <a:latin typeface="Consolas"/>
              </a:rPr>
              <a:t>EL MODELO · DOS LÍNEAS DE INGRESO</a:t>
            </a:r>
          </a:p>
        </p:txBody>
      </p:sp>
      <p:pic>
        <p:nvPicPr>
          <p:cNvPr id="5" name="Picture 4" descr="yape-logo-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575" y="36576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3716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020"/>
                </a:solidFill>
                <a:latin typeface="Calibri"/>
              </a:rPr>
              <a:t>Cómo funciona el modelo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5167" y="237744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9487" y="267004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0F1020"/>
                </a:solidFill>
                <a:latin typeface="Calibri"/>
              </a:rPr>
              <a:t>PSPs</a:t>
            </a:r>
          </a:p>
          <a:p>
            <a:pPr algn="l">
              <a:spcAft>
                <a:spcPts val="800"/>
              </a:spcAft>
            </a:pPr>
            <a:r>
              <a:rPr sz="1100" b="1" i="0" spc="120">
                <a:solidFill>
                  <a:srgbClr val="808395"/>
                </a:solidFill>
                <a:latin typeface="Consolas"/>
              </a:rPr>
              <a:t>17 mapeados en Perú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5586E"/>
                </a:solidFill>
                <a:latin typeface="Calibri"/>
              </a:rPr>
              <a:t>Niubiz · Izipay · Culqi · Mercado Pago · Visa Direct · MC Send · BCP rails · 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9927" y="237744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1726A6"/>
          </a:solidFill>
          <a:ln w="9525">
            <a:solidFill>
              <a:srgbClr val="172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98567" y="2633472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7C89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98567" y="267004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spc="250">
                <a:solidFill>
                  <a:srgbClr val="1726A6"/>
                </a:solidFill>
                <a:latin typeface="Consolas"/>
              </a:rPr>
              <a:t>OWNER  &amp;  ORCHESTRATOR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247" y="315468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YUNO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0" i="0">
                <a:solidFill>
                  <a:srgbClr val="E2E5FA"/>
                </a:solidFill>
                <a:latin typeface="Calibri"/>
              </a:rPr>
              <a:t>Capa única de onboarding,</a:t>
            </a:r>
          </a:p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E2E5FA"/>
                </a:solidFill>
                <a:latin typeface="Calibri"/>
              </a:rPr>
              <a:t>ruteo y monetización del ecosistema.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4687" y="2377440"/>
            <a:ext cx="329184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E2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9007" y="2670048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7E2D86"/>
                </a:solidFill>
                <a:latin typeface="Calibri"/>
              </a:rPr>
              <a:t>Yape</a:t>
            </a:r>
          </a:p>
          <a:p>
            <a:pPr algn="l">
              <a:spcAft>
                <a:spcPts val="800"/>
              </a:spcAft>
            </a:pPr>
            <a:r>
              <a:rPr sz="1100" b="1" i="0" spc="140">
                <a:solidFill>
                  <a:srgbClr val="808395"/>
                </a:solidFill>
                <a:latin typeface="Consolas"/>
              </a:rPr>
              <a:t>BILLETERA #1 PERÚ · BCP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55586E"/>
                </a:solidFill>
                <a:latin typeface="Calibri"/>
              </a:rPr>
              <a:t>19M+ usuarios. Pasa de 3 → 15 PSPs por trimestre con Yuno como capa orquestadora.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92727" y="3333280"/>
            <a:ext cx="411480" cy="164592"/>
          </a:xfrm>
          <a:prstGeom prst="rightArrow">
            <a:avLst/>
          </a:prstGeom>
          <a:solidFill>
            <a:srgbClr val="B4B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7787487" y="3333280"/>
            <a:ext cx="411480" cy="164592"/>
          </a:xfrm>
          <a:prstGeom prst="rightArrow">
            <a:avLst/>
          </a:prstGeom>
          <a:solidFill>
            <a:srgbClr val="B4B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4617720"/>
            <a:ext cx="11185855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808395"/>
                </a:solidFill>
                <a:latin typeface="Consolas"/>
              </a:rPr>
              <a:t>DOS LÍNEAS DE INGRESO PARA YUNO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726A6"/>
                </a:solidFill>
                <a:latin typeface="Calibri"/>
              </a:rPr>
              <a:t>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02352"/>
            <a:ext cx="49528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 i="0">
                <a:solidFill>
                  <a:srgbClr val="0F1020"/>
                </a:solidFill>
                <a:latin typeface="Calibri"/>
              </a:rPr>
              <a:t>$3,000 USD / PSP / mes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08395"/>
                </a:solidFill>
                <a:latin typeface="Calibri"/>
              </a:rPr>
              <a:t>SaaS desde Yape  ·  piso $6k · cap $35k/mes (~12 PSPs)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5120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7E2D86"/>
                </a:solidFill>
                <a:latin typeface="Calibri"/>
              </a:rPr>
              <a:t>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0207" y="5102352"/>
            <a:ext cx="495284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100"/>
              </a:spcAft>
            </a:pPr>
            <a:r>
              <a:rPr sz="1600" b="1" i="0">
                <a:solidFill>
                  <a:srgbClr val="0F1020"/>
                </a:solidFill>
                <a:latin typeface="Calibri"/>
              </a:rPr>
              <a:t>$0.04 USD / transacción aprobada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08395"/>
                </a:solidFill>
                <a:latin typeface="Calibri"/>
              </a:rPr>
              <a:t>Fee desde cada PSP  ·  ~50k trx/mes/PSP · ticket prom. $20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08076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200">
                <a:solidFill>
                  <a:srgbClr val="7E2D86"/>
                </a:solidFill>
                <a:latin typeface="Consolas"/>
              </a:rPr>
              <a:t>CONDICIÓN OBLIGATORIA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6099048"/>
            <a:ext cx="8991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5586E"/>
                </a:solidFill>
                <a:latin typeface="Calibri"/>
              </a:rPr>
              <a:t>Yape exige a todo PSP firmar el contrato estándar Yuno como requisito para integrarse — controlamos pricing y relación comercial en ambos lados.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80">
                <a:solidFill>
                  <a:srgbClr val="B4B6C2"/>
                </a:solidFill>
                <a:latin typeface="Calibri"/>
              </a:rPr>
              <a:t>Yuno × Yape · Internal Deal Brief · Confidencial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73952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50">
                <a:solidFill>
                  <a:srgbClr val="B4B6C2"/>
                </a:solidFill>
                <a:latin typeface="Consolas"/>
              </a:rPr>
              <a:t>2 /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355080"/>
            <a:ext cx="11185855" cy="6350"/>
          </a:xfrm>
          <a:prstGeom prst="rect">
            <a:avLst/>
          </a:prstGeom>
          <a:solidFill>
            <a:srgbClr val="E5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50">
                <a:solidFill>
                  <a:srgbClr val="0F1020"/>
                </a:solidFill>
                <a:latin typeface="Calibri"/>
              </a:rPr>
              <a:t>YUNO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200">
                <a:solidFill>
                  <a:srgbClr val="808395"/>
                </a:solidFill>
                <a:latin typeface="Consolas"/>
              </a:rPr>
              <a:t>PROYECCIÓN FINANCIERA · 3 AÑOS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1020"/>
                </a:solidFill>
                <a:latin typeface="Calibri"/>
              </a:rPr>
              <a:t>Ingresos consolidados Yuno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86000"/>
            <a:ext cx="6492240" cy="37490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19379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50">
                <a:solidFill>
                  <a:srgbClr val="808395"/>
                </a:solidFill>
                <a:latin typeface="Consolas"/>
              </a:rPr>
              <a:t>$0k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419600"/>
            <a:ext cx="5440680" cy="4500"/>
          </a:xfrm>
          <a:prstGeom prst="rect">
            <a:avLst/>
          </a:prstGeom>
          <a:solidFill>
            <a:srgbClr val="E5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30987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50">
                <a:solidFill>
                  <a:srgbClr val="808395"/>
                </a:solidFill>
                <a:latin typeface="Consolas"/>
              </a:rPr>
              <a:t>$500k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535680"/>
            <a:ext cx="5440680" cy="4500"/>
          </a:xfrm>
          <a:prstGeom prst="rect">
            <a:avLst/>
          </a:prstGeom>
          <a:solidFill>
            <a:srgbClr val="E5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42595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50">
                <a:solidFill>
                  <a:srgbClr val="808395"/>
                </a:solidFill>
                <a:latin typeface="Consolas"/>
              </a:rPr>
              <a:t>$1000k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651760"/>
            <a:ext cx="5440680" cy="4500"/>
          </a:xfrm>
          <a:prstGeom prst="rect">
            <a:avLst/>
          </a:prstGeom>
          <a:solidFill>
            <a:srgbClr val="E5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54203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spc="50">
                <a:solidFill>
                  <a:srgbClr val="808395"/>
                </a:solidFill>
                <a:latin typeface="Consolas"/>
              </a:rPr>
              <a:t>$1500k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3634" y="4700687"/>
            <a:ext cx="1269492" cy="602833"/>
          </a:xfrm>
          <a:prstGeom prst="rect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43634" y="4099622"/>
            <a:ext cx="1269492" cy="601065"/>
          </a:xfrm>
          <a:prstGeom prst="rect">
            <a:avLst/>
          </a:prstGeom>
          <a:solidFill>
            <a:srgbClr val="596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3634" y="4792127"/>
            <a:ext cx="1269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$341k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3634" y="4191062"/>
            <a:ext cx="1269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$340k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69314" y="3715574"/>
            <a:ext cx="18181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020"/>
                </a:solidFill>
                <a:latin typeface="Calibri"/>
              </a:rPr>
              <a:t>$681k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69314" y="5413248"/>
            <a:ext cx="18181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120">
                <a:solidFill>
                  <a:srgbClr val="808395"/>
                </a:solidFill>
                <a:latin typeface="Consolas"/>
              </a:rPr>
              <a:t>Año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7194" y="4561028"/>
            <a:ext cx="1269492" cy="742492"/>
          </a:xfrm>
          <a:prstGeom prst="rect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57194" y="3288184"/>
            <a:ext cx="1269492" cy="1272844"/>
          </a:xfrm>
          <a:prstGeom prst="rect">
            <a:avLst/>
          </a:prstGeom>
          <a:solidFill>
            <a:srgbClr val="596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7194" y="4652468"/>
            <a:ext cx="1269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$420k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7194" y="3379624"/>
            <a:ext cx="1269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$720k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82874" y="2904136"/>
            <a:ext cx="18181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020"/>
                </a:solidFill>
                <a:latin typeface="Calibri"/>
              </a:rPr>
              <a:t>$1,140k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82874" y="5413248"/>
            <a:ext cx="18181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120">
                <a:solidFill>
                  <a:srgbClr val="808395"/>
                </a:solidFill>
                <a:latin typeface="Consolas"/>
              </a:rPr>
              <a:t>Año 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70754" y="4561028"/>
            <a:ext cx="1269492" cy="742492"/>
          </a:xfrm>
          <a:prstGeom prst="rect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70754" y="2863902"/>
            <a:ext cx="1269492" cy="1697126"/>
          </a:xfrm>
          <a:prstGeom prst="rect">
            <a:avLst/>
          </a:prstGeom>
          <a:solidFill>
            <a:srgbClr val="596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70754" y="4652468"/>
            <a:ext cx="1269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$420k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70754" y="2955342"/>
            <a:ext cx="12694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$960k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6434" y="2479854"/>
            <a:ext cx="18181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0F1020"/>
                </a:solidFill>
                <a:latin typeface="Calibri"/>
              </a:rPr>
              <a:t>$1,380k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96434" y="5413248"/>
            <a:ext cx="18181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spc="120">
                <a:solidFill>
                  <a:srgbClr val="808395"/>
                </a:solidFill>
                <a:latin typeface="Consolas"/>
              </a:rPr>
              <a:t>Año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5660136"/>
            <a:ext cx="164592" cy="164592"/>
          </a:xfrm>
          <a:prstGeom prst="rect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82496" y="56052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00">
                <a:solidFill>
                  <a:srgbClr val="55586E"/>
                </a:solidFill>
                <a:latin typeface="Consolas"/>
              </a:rPr>
              <a:t>SAAS (YAPE → YUNO)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5660136"/>
            <a:ext cx="164592" cy="164592"/>
          </a:xfrm>
          <a:prstGeom prst="rect">
            <a:avLst/>
          </a:prstGeom>
          <a:solidFill>
            <a:srgbClr val="5967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9936" y="560527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00">
                <a:solidFill>
                  <a:srgbClr val="55586E"/>
                </a:solidFill>
                <a:latin typeface="Consolas"/>
              </a:rPr>
              <a:t>FEE TRX (PSPs → YUNO)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0" y="2331720"/>
            <a:ext cx="4373575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0" y="2587752"/>
            <a:ext cx="3824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808395"/>
                </a:solidFill>
                <a:latin typeface="Consolas"/>
              </a:rPr>
              <a:t>RESUMEN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3063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">
                <a:solidFill>
                  <a:srgbClr val="808395"/>
                </a:solidFill>
                <a:latin typeface="Calibri"/>
              </a:rPr>
              <a:t>PSPs activos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23960" y="3063240"/>
            <a:ext cx="2544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spc="40">
                <a:solidFill>
                  <a:srgbClr val="55586E"/>
                </a:solidFill>
                <a:latin typeface="Consolas"/>
              </a:rPr>
              <a:t>25 · 35 · 45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89520" y="3355848"/>
            <a:ext cx="3824935" cy="4500"/>
          </a:xfrm>
          <a:prstGeom prst="rect">
            <a:avLst/>
          </a:prstGeom>
          <a:solidFill>
            <a:srgbClr val="E5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0" y="34472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">
                <a:solidFill>
                  <a:srgbClr val="808395"/>
                </a:solidFill>
                <a:latin typeface="Calibri"/>
              </a:rPr>
              <a:t>Trx anual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60" y="3447288"/>
            <a:ext cx="2544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spc="40">
                <a:solidFill>
                  <a:srgbClr val="55586E"/>
                </a:solidFill>
                <a:latin typeface="Consolas"/>
              </a:rPr>
              <a:t>8.5M · 17M · 24M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3739896"/>
            <a:ext cx="3824935" cy="4500"/>
          </a:xfrm>
          <a:prstGeom prst="rect">
            <a:avLst/>
          </a:prstGeom>
          <a:solidFill>
            <a:srgbClr val="E5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0" y="38313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">
                <a:solidFill>
                  <a:srgbClr val="808395"/>
                </a:solidFill>
                <a:latin typeface="Calibri"/>
              </a:rPr>
              <a:t>Ingresos SaaS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3831336"/>
            <a:ext cx="2544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spc="40">
                <a:solidFill>
                  <a:srgbClr val="55586E"/>
                </a:solidFill>
                <a:latin typeface="Consolas"/>
              </a:rPr>
              <a:t>$341k · $420k · $420k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89520" y="4123944"/>
            <a:ext cx="3824935" cy="4500"/>
          </a:xfrm>
          <a:prstGeom prst="rect">
            <a:avLst/>
          </a:prstGeom>
          <a:solidFill>
            <a:srgbClr val="E5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0" y="421538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">
                <a:solidFill>
                  <a:srgbClr val="808395"/>
                </a:solidFill>
                <a:latin typeface="Calibri"/>
              </a:rPr>
              <a:t>Ingresos Tx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3960" y="4215384"/>
            <a:ext cx="2544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0" spc="40">
                <a:solidFill>
                  <a:srgbClr val="55586E"/>
                </a:solidFill>
                <a:latin typeface="Consolas"/>
              </a:rPr>
              <a:t>$340k · $720k · $960k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0" y="4507992"/>
            <a:ext cx="3824935" cy="4500"/>
          </a:xfrm>
          <a:prstGeom prst="rect">
            <a:avLst/>
          </a:prstGeom>
          <a:solidFill>
            <a:srgbClr val="E5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0" y="459943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spc="30">
                <a:solidFill>
                  <a:srgbClr val="808395"/>
                </a:solidFill>
                <a:latin typeface="Calibri"/>
              </a:rPr>
              <a:t>Total anual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23960" y="4599432"/>
            <a:ext cx="254477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spc="40">
                <a:solidFill>
                  <a:srgbClr val="0F1020"/>
                </a:solidFill>
                <a:latin typeface="Consolas"/>
              </a:rPr>
              <a:t>$681k · $1.14M · $1.38M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498080" y="4983480"/>
            <a:ext cx="4007815" cy="822960"/>
          </a:xfrm>
          <a:prstGeom prst="roundRect">
            <a:avLst>
              <a:gd name="adj" fmla="val 10000"/>
            </a:avLst>
          </a:prstGeom>
          <a:solidFill>
            <a:srgbClr val="0F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680960" y="5120640"/>
            <a:ext cx="364205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$3.2M USD</a:t>
            </a:r>
          </a:p>
          <a:p>
            <a:pPr algn="l"/>
            <a:r>
              <a:rPr sz="950" b="1" i="0" spc="180">
                <a:solidFill>
                  <a:srgbClr val="BDC3F6"/>
                </a:solidFill>
                <a:latin typeface="Consolas"/>
              </a:rPr>
              <a:t>Acumulado 3 años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" y="6126480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808395"/>
                </a:solidFill>
                <a:latin typeface="Calibri"/>
              </a:rPr>
              <a:t>El cap SaaS topa en $35k/mes (~12 PSPs) — todo el upside vive en el fee transaccional (escalamiento sin techo).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80">
                <a:solidFill>
                  <a:srgbClr val="B4B6C2"/>
                </a:solidFill>
                <a:latin typeface="Calibri"/>
              </a:rPr>
              <a:t>Yuno × Yape · Internal Deal Brief · Confidencial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20095" y="6473952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50">
                <a:solidFill>
                  <a:srgbClr val="B4B6C2"/>
                </a:solidFill>
                <a:latin typeface="Consolas"/>
              </a:rPr>
              <a:t>3 / 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6355080"/>
            <a:ext cx="11185855" cy="6350"/>
          </a:xfrm>
          <a:prstGeom prst="rect">
            <a:avLst/>
          </a:prstGeom>
          <a:solidFill>
            <a:srgbClr val="E5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250">
                <a:solidFill>
                  <a:srgbClr val="0F1020"/>
                </a:solidFill>
                <a:latin typeface="Calibri"/>
              </a:rPr>
              <a:t>YUNO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200">
                <a:solidFill>
                  <a:srgbClr val="808395"/>
                </a:solidFill>
                <a:latin typeface="Consolas"/>
              </a:rPr>
              <a:t>DECISIÓN ·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1020"/>
                </a:solidFill>
                <a:latin typeface="Calibri"/>
              </a:rPr>
              <a:t>Por qué cerrar ahora · Asks contractuales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455767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32888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1726A6"/>
                </a:solidFill>
                <a:latin typeface="Consolas"/>
              </a:rPr>
              <a:t>POR QUÉ CERRAR AHORA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0632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020"/>
                </a:solidFill>
                <a:latin typeface="Calibri"/>
              </a:rPr>
              <a:t>4 razones estratégicas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00">
                <a:solidFill>
                  <a:srgbClr val="1726A6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27832"/>
            <a:ext cx="454136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1020"/>
                </a:solidFill>
                <a:latin typeface="Calibri"/>
              </a:rPr>
              <a:t>Yuno es el OWNER del ecosistema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08395"/>
                </a:solidFill>
                <a:latin typeface="Calibri"/>
              </a:rPr>
              <a:t>Controlamos relación comercial, pricing en ambos lados y la capa técnica que Yape necesita para escalar.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0507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00">
                <a:solidFill>
                  <a:srgbClr val="1726A6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941064"/>
            <a:ext cx="454136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1020"/>
                </a:solidFill>
                <a:latin typeface="Calibri"/>
              </a:rPr>
              <a:t>CAC tiende a cero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08395"/>
                </a:solidFill>
                <a:latin typeface="Calibri"/>
              </a:rPr>
              <a:t>Yape es nuestro canal forzado de distribución hacia PSPs — onboarding viene empujado por ellos.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1830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00">
                <a:solidFill>
                  <a:srgbClr val="1726A6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654296"/>
            <a:ext cx="454136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1020"/>
                </a:solidFill>
                <a:latin typeface="Calibri"/>
              </a:rPr>
              <a:t>Data ownership end-to-end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08395"/>
                </a:solidFill>
                <a:latin typeface="Calibri"/>
              </a:rPr>
              <a:t>Visibilidad completa del flujo transaccional (volúmenes, AR, mix por PSP) — fuente de verdad nuestra.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315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spc="100">
                <a:solidFill>
                  <a:srgbClr val="1726A6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367528"/>
            <a:ext cx="4541367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 i="0">
                <a:solidFill>
                  <a:srgbClr val="0F1020"/>
                </a:solidFill>
                <a:latin typeface="Calibri"/>
              </a:rPr>
              <a:t>Modelo replicable en LatAm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08395"/>
                </a:solidFill>
                <a:latin typeface="Calibri"/>
              </a:rPr>
              <a:t>Misma capa orquestadora vendible a Nequi, Mercado Pago, dale!, Modo — playbook probado primero en Perú.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2331720"/>
            <a:ext cx="5455767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07327" y="2532888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200">
                <a:solidFill>
                  <a:srgbClr val="7E2D86"/>
                </a:solidFill>
                <a:latin typeface="Consolas"/>
              </a:rPr>
              <a:t>ASKS CONTRACTUALES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2770632"/>
            <a:ext cx="4907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F1020"/>
                </a:solidFill>
                <a:latin typeface="Calibri"/>
              </a:rPr>
              <a:t>7 parámetros a blindar</a:t>
            </a:r>
          </a:p>
        </p:txBody>
      </p:sp>
      <p:sp>
        <p:nvSpPr>
          <p:cNvPr id="20" name="Oval 19"/>
          <p:cNvSpPr/>
          <p:nvPr/>
        </p:nvSpPr>
        <p:spPr>
          <a:xfrm>
            <a:off x="6507327" y="3291840"/>
            <a:ext cx="237744" cy="237744"/>
          </a:xfrm>
          <a:prstGeom prst="ellipse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329184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3087" y="3319272"/>
            <a:ext cx="46328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5586E"/>
                </a:solidFill>
                <a:latin typeface="Calibri"/>
              </a:rPr>
              <a:t>Exclusividad 24–36 meses como capa única de onboarding</a:t>
            </a:r>
          </a:p>
        </p:txBody>
      </p:sp>
      <p:sp>
        <p:nvSpPr>
          <p:cNvPr id="23" name="Oval 22"/>
          <p:cNvSpPr/>
          <p:nvPr/>
        </p:nvSpPr>
        <p:spPr>
          <a:xfrm>
            <a:off x="6507327" y="3703320"/>
            <a:ext cx="237744" cy="237744"/>
          </a:xfrm>
          <a:prstGeom prst="ellipse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07327" y="370332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3087" y="3730752"/>
            <a:ext cx="46328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5586E"/>
                </a:solidFill>
                <a:latin typeface="Calibri"/>
              </a:rPr>
              <a:t>Mínimo garantizado $6,000 USD/mes desde el día 1</a:t>
            </a:r>
          </a:p>
        </p:txBody>
      </p:sp>
      <p:sp>
        <p:nvSpPr>
          <p:cNvPr id="26" name="Oval 25"/>
          <p:cNvSpPr/>
          <p:nvPr/>
        </p:nvSpPr>
        <p:spPr>
          <a:xfrm>
            <a:off x="6507327" y="4114800"/>
            <a:ext cx="237744" cy="237744"/>
          </a:xfrm>
          <a:prstGeom prst="ellipse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7327" y="41148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3087" y="4142232"/>
            <a:ext cx="46328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5586E"/>
                </a:solidFill>
                <a:latin typeface="Calibri"/>
              </a:rPr>
              <a:t>Revisión escalonada del cap (renegociar al hit de X PSPs)</a:t>
            </a:r>
          </a:p>
        </p:txBody>
      </p:sp>
      <p:sp>
        <p:nvSpPr>
          <p:cNvPr id="29" name="Oval 28"/>
          <p:cNvSpPr/>
          <p:nvPr/>
        </p:nvSpPr>
        <p:spPr>
          <a:xfrm>
            <a:off x="6507327" y="4526280"/>
            <a:ext cx="237744" cy="237744"/>
          </a:xfrm>
          <a:prstGeom prst="ellipse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7327" y="452628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3087" y="4553712"/>
            <a:ext cx="46328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5586E"/>
                </a:solidFill>
                <a:latin typeface="Calibri"/>
              </a:rPr>
              <a:t>Fee transaccional $0.04/trx blindado contractualmente</a:t>
            </a:r>
          </a:p>
        </p:txBody>
      </p:sp>
      <p:sp>
        <p:nvSpPr>
          <p:cNvPr id="32" name="Oval 31"/>
          <p:cNvSpPr/>
          <p:nvPr/>
        </p:nvSpPr>
        <p:spPr>
          <a:xfrm>
            <a:off x="6507327" y="4937760"/>
            <a:ext cx="237744" cy="237744"/>
          </a:xfrm>
          <a:prstGeom prst="ellipse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07327" y="493776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3087" y="4965192"/>
            <a:ext cx="46328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5586E"/>
                </a:solidFill>
                <a:latin typeface="Calibri"/>
              </a:rPr>
              <a:t>SLA 99.9% con penalidades acotadas</a:t>
            </a:r>
          </a:p>
        </p:txBody>
      </p:sp>
      <p:sp>
        <p:nvSpPr>
          <p:cNvPr id="35" name="Oval 34"/>
          <p:cNvSpPr/>
          <p:nvPr/>
        </p:nvSpPr>
        <p:spPr>
          <a:xfrm>
            <a:off x="6507327" y="5349240"/>
            <a:ext cx="237744" cy="237744"/>
          </a:xfrm>
          <a:prstGeom prst="ellipse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07327" y="534924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3087" y="5376672"/>
            <a:ext cx="46328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5586E"/>
                </a:solidFill>
                <a:latin typeface="Calibri"/>
              </a:rPr>
              <a:t>Propiedad de data agregada para Yuno</a:t>
            </a:r>
          </a:p>
        </p:txBody>
      </p:sp>
      <p:sp>
        <p:nvSpPr>
          <p:cNvPr id="38" name="Oval 37"/>
          <p:cNvSpPr/>
          <p:nvPr/>
        </p:nvSpPr>
        <p:spPr>
          <a:xfrm>
            <a:off x="6507327" y="5760720"/>
            <a:ext cx="237744" cy="237744"/>
          </a:xfrm>
          <a:prstGeom prst="ellipse">
            <a:avLst/>
          </a:prstGeom>
          <a:solidFill>
            <a:srgbClr val="172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7327" y="576072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3087" y="5788152"/>
            <a:ext cx="463280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55586E"/>
                </a:solidFill>
                <a:latin typeface="Calibri"/>
              </a:rPr>
              <a:t>Salida con notice 6 meses + no-compete 12 meses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6144768"/>
            <a:ext cx="11185855" cy="320040"/>
          </a:xfrm>
          <a:prstGeom prst="roundRect">
            <a:avLst>
              <a:gd name="adj" fmla="val 30000"/>
            </a:avLst>
          </a:prstGeom>
          <a:solidFill>
            <a:srgbClr val="0F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6181344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spc="200">
                <a:solidFill>
                  <a:srgbClr val="BDC3F6"/>
                </a:solidFill>
                <a:latin typeface="Consolas"/>
              </a:rPr>
              <a:t>DECISIÓN REQUERIDA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6190488"/>
            <a:ext cx="825977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Aprobación para avanzar al cierre del contrato con Yape (BCP).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473952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spc="80">
                <a:solidFill>
                  <a:srgbClr val="B4B6C2"/>
                </a:solidFill>
                <a:latin typeface="Calibri"/>
              </a:rPr>
              <a:t>Yuno × Yape · Internal Deal Brief · Confidencial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20095" y="6473952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spc="50">
                <a:solidFill>
                  <a:srgbClr val="B4B6C2"/>
                </a:solidFill>
                <a:latin typeface="Consolas"/>
              </a:rPr>
              <a:t>4 / 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6355080"/>
            <a:ext cx="11185855" cy="6350"/>
          </a:xfrm>
          <a:prstGeom prst="rect">
            <a:avLst/>
          </a:prstGeom>
          <a:solidFill>
            <a:srgbClr val="E5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